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89d9639561459b" /><Relationship Type="http://schemas.openxmlformats.org/officeDocument/2006/relationships/extended-properties" Target="/docProps/app.xml" Id="R840b30af7fdb4c98" /><Relationship Type="http://schemas.openxmlformats.org/officeDocument/2006/relationships/officeDocument" Target="/ppt/presentation.xml" Id="Re29f3de814104a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2ad3ec826046d3"/>
  </p:sldMasterIdLst>
  <p:notesMasterIdLst>
    <p:notesMasterId xmlns:r="http://schemas.openxmlformats.org/officeDocument/2006/relationships" r:id="R2ff7361dc7fe42e3"/>
  </p:notesMasterIdLst>
  <p:sldIdLst>
    <p:sldId xmlns:r="http://schemas.openxmlformats.org/officeDocument/2006/relationships" id="256" r:id="R46ee990b807b465b"/>
    <p:sldId xmlns:r="http://schemas.openxmlformats.org/officeDocument/2006/relationships" id="257" r:id="Rf0aa97dbd4cb4230"/>
    <p:sldId xmlns:r="http://schemas.openxmlformats.org/officeDocument/2006/relationships" id="258" r:id="Re16874ba2ea340c8"/>
    <p:sldId xmlns:r="http://schemas.openxmlformats.org/officeDocument/2006/relationships" id="259" r:id="R3d4a771c4053469a"/>
    <p:sldId xmlns:r="http://schemas.openxmlformats.org/officeDocument/2006/relationships" id="260" r:id="R6162047b726e45d6"/>
    <p:sldId xmlns:r="http://schemas.openxmlformats.org/officeDocument/2006/relationships" id="261" r:id="R24e72015d61d4325"/>
    <p:sldId xmlns:r="http://schemas.openxmlformats.org/officeDocument/2006/relationships" id="262" r:id="R0f5a7b63a38c4555"/>
    <p:sldId xmlns:r="http://schemas.openxmlformats.org/officeDocument/2006/relationships" id="263" r:id="R6f384d8db20744e8"/>
    <p:sldId xmlns:r="http://schemas.openxmlformats.org/officeDocument/2006/relationships" id="264" r:id="R07860ffa42544ab8"/>
    <p:sldId xmlns:r="http://schemas.openxmlformats.org/officeDocument/2006/relationships" id="265" r:id="R923b21978b834b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ba744a72184f2b" /><Relationship Type="http://schemas.openxmlformats.org/officeDocument/2006/relationships/slideMaster" Target="/ppt/slideMasters/slideMaster1.xml" Id="Rdc2ad3ec826046d3" /><Relationship Type="http://schemas.openxmlformats.org/officeDocument/2006/relationships/notesMaster" Target="/ppt/notesMasters/notesMaster1.xml" Id="R2ff7361dc7fe42e3" /><Relationship Type="http://schemas.openxmlformats.org/officeDocument/2006/relationships/presProps" Target="/ppt/presProps.xml" Id="Rc938ceb304fb4436" /><Relationship Type="http://schemas.openxmlformats.org/officeDocument/2006/relationships/tableStyles" Target="/ppt/tableStyles.xml" Id="R10edfc2aec8c470f" /><Relationship Type="http://schemas.openxmlformats.org/officeDocument/2006/relationships/slide" Target="/ppt/slides/slide1.xml" Id="R46ee990b807b465b" /><Relationship Type="http://schemas.openxmlformats.org/officeDocument/2006/relationships/slide" Target="/ppt/slides/slide2.xml" Id="Rf0aa97dbd4cb4230" /><Relationship Type="http://schemas.openxmlformats.org/officeDocument/2006/relationships/slide" Target="/ppt/slides/slide3.xml" Id="Re16874ba2ea340c8" /><Relationship Type="http://schemas.openxmlformats.org/officeDocument/2006/relationships/slide" Target="/ppt/slides/slide4.xml" Id="R3d4a771c4053469a" /><Relationship Type="http://schemas.openxmlformats.org/officeDocument/2006/relationships/slide" Target="/ppt/slides/slide5.xml" Id="R6162047b726e45d6" /><Relationship Type="http://schemas.openxmlformats.org/officeDocument/2006/relationships/slide" Target="/ppt/slides/slide6.xml" Id="R24e72015d61d4325" /><Relationship Type="http://schemas.openxmlformats.org/officeDocument/2006/relationships/slide" Target="/ppt/slides/slide7.xml" Id="R0f5a7b63a38c4555" /><Relationship Type="http://schemas.openxmlformats.org/officeDocument/2006/relationships/slide" Target="/ppt/slides/slide8.xml" Id="R6f384d8db20744e8" /><Relationship Type="http://schemas.openxmlformats.org/officeDocument/2006/relationships/slide" Target="/ppt/slides/slide9.xml" Id="R07860ffa42544ab8" /><Relationship Type="http://schemas.openxmlformats.org/officeDocument/2006/relationships/slide" Target="/ppt/slides/slide10.xml" Id="R923b21978b834b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516b648ce04f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a183d5df574d3c" /><Relationship Type="http://schemas.openxmlformats.org/officeDocument/2006/relationships/notesMaster" Target="/ppt/notesMasters/notesMaster1.xml" Id="R946b6d58ed0042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0106ec4fcd4fb1" /><Relationship Type="http://schemas.openxmlformats.org/officeDocument/2006/relationships/notesMaster" Target="/ppt/notesMasters/notesMaster1.xml" Id="R3d99e5de8ec648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9ab90a5b51436c" /><Relationship Type="http://schemas.openxmlformats.org/officeDocument/2006/relationships/notesMaster" Target="/ppt/notesMasters/notesMaster1.xml" Id="Rf0cee780b67640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71f178f4f542b1" /><Relationship Type="http://schemas.openxmlformats.org/officeDocument/2006/relationships/notesMaster" Target="/ppt/notesMasters/notesMaster1.xml" Id="Rf536375ed18744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24cbd89d804543" /><Relationship Type="http://schemas.openxmlformats.org/officeDocument/2006/relationships/notesMaster" Target="/ppt/notesMasters/notesMaster1.xml" Id="R9fb6784c57494c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5070ae3bb74be1" /><Relationship Type="http://schemas.openxmlformats.org/officeDocument/2006/relationships/notesMaster" Target="/ppt/notesMasters/notesMaster1.xml" Id="R94c1c48d332d4f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077128332f4c04" /><Relationship Type="http://schemas.openxmlformats.org/officeDocument/2006/relationships/notesMaster" Target="/ppt/notesMasters/notesMaster1.xml" Id="R48e064becdeb41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ec01e209f04cab" /><Relationship Type="http://schemas.openxmlformats.org/officeDocument/2006/relationships/notesMaster" Target="/ppt/notesMasters/notesMaster1.xml" Id="Red00488d62164b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d0d72c371a431a" /><Relationship Type="http://schemas.openxmlformats.org/officeDocument/2006/relationships/notesMaster" Target="/ppt/notesMasters/notesMaster1.xml" Id="R5f2c56bd58004a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5e18853ef54793" /><Relationship Type="http://schemas.openxmlformats.org/officeDocument/2006/relationships/notesMaster" Target="/ppt/notesMasters/notesMaster1.xml" Id="Rdbb0c42bdfec4d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5cf3117114a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428eb5d70a4bbb" /><Relationship Type="http://schemas.openxmlformats.org/officeDocument/2006/relationships/slideLayout" Target="/ppt/slideLayouts/slideLayout1.xml" Id="R22ee331c005441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e331c005441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5b4d2052f4bbf" /><Relationship Type="http://schemas.openxmlformats.org/officeDocument/2006/relationships/image" Target="/ppt/media/image.png" Id="Rf9ea363e340843bf" /><Relationship Type="http://schemas.openxmlformats.org/officeDocument/2006/relationships/notesSlide" Target="/ppt/notesSlides/notesSlide1.xml" Id="R2d83237726cd40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96cbf83c84d2b" /><Relationship Type="http://schemas.openxmlformats.org/officeDocument/2006/relationships/notesSlide" Target="/ppt/notesSlides/notesSlide2.xml" Id="R3f1e0d34711a44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f4eda52714760" /><Relationship Type="http://schemas.openxmlformats.org/officeDocument/2006/relationships/notesSlide" Target="/ppt/notesSlides/notesSlide3.xml" Id="Rc1e3e0da1dee4c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c15ba8098459b" /><Relationship Type="http://schemas.openxmlformats.org/officeDocument/2006/relationships/notesSlide" Target="/ppt/notesSlides/notesSlide4.xml" Id="R5d77b55bf6e54d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1922250784e5c" /><Relationship Type="http://schemas.openxmlformats.org/officeDocument/2006/relationships/notesSlide" Target="/ppt/notesSlides/notesSlide5.xml" Id="R2f1e9094eeb744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e5d139ca94a90" /><Relationship Type="http://schemas.openxmlformats.org/officeDocument/2006/relationships/notesSlide" Target="/ppt/notesSlides/notesSlide6.xml" Id="R9dcdb57570d44b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ea8bfa8a94291" /><Relationship Type="http://schemas.openxmlformats.org/officeDocument/2006/relationships/notesSlide" Target="/ppt/notesSlides/notesSlide7.xml" Id="Ra59500ed6c2a40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00a261fa8446a" /><Relationship Type="http://schemas.openxmlformats.org/officeDocument/2006/relationships/notesSlide" Target="/ppt/notesSlides/notesSlide8.xml" Id="R3c28a33b9f0045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2c5f8b4924fd2" /><Relationship Type="http://schemas.openxmlformats.org/officeDocument/2006/relationships/notesSlide" Target="/ppt/notesSlides/notesSlide9.xml" Id="Reb5d5c2d23e54a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7956107234ef5" /><Relationship Type="http://schemas.openxmlformats.org/officeDocument/2006/relationships/notesSlide" Target="/ppt/notesSlides/notesSlide10.xml" Id="Re92c14d6a2d04d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883CB8-C1FC-4BF1-9DA2-FB7D33D2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7CC82-A871-46F7-93CE-EA002263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solidFill>
              <a:srgbClr val="1D6B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CAD40-9EE8-460E-90ED-B83FDDA2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CEBE1"/>
                </a:solidFill>
              </a:defRPr>
            </a:pPr>
            <a:r>
              <a:rPr sz="975" b="1" i="0">
                <a:solidFill>
                  <a:srgbClr val="DCEBE1"/>
                </a:solidFill>
              </a:rPr>
              <a:t>METABLETON ECOLE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441F4-C2F0-48E3-AFF5-727B4DA4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Beta privee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9AE2D-68D4-4167-8071-D085242C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028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EAF4EE"/>
                </a:solidFill>
              </a:defRPr>
            </a:pPr>
            <a:r>
              <a:rPr sz="1575" b="0" i="0">
                <a:solidFill>
                  <a:srgbClr val="EAF4EE"/>
                </a:solidFill>
              </a:rPr>
              <a:t>Comment elle va se derouler, ce qu'elle doit valider, et comment les retours deviennent des decisions produit.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990F0-ABAA-4C17-B64E-128B5191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D6E7DE"/>
                </a:solidFill>
              </a:defRPr>
            </a:pPr>
            <a:r>
              <a:rPr sz="1125" b="0" i="0">
                <a:solidFill>
                  <a:srgbClr val="D6E7DE"/>
                </a:solidFill>
              </a:rPr>
              <a:t>Version de pilotage - 18 juin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77F44-4439-400E-8CB5-A4887F31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42950"/>
            <a:ext cx="55816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a363e340843bf"/>
          <a:srcRect xmlns:a="http://schemas.openxmlformats.org/drawingml/2006/main" l="0" t="11993" r="0" b="11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48300" y="971550"/>
            <a:ext cx="5124450" cy="2705100"/>
          </a:xfrm>
          <a:prstGeom xmlns:a="http://schemas.openxmlformats.org/drawingml/2006/main" prst="roundRect">
            <a:avLst>
              <a:gd name="adj" fmla="val 211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EE70E-7FC5-4DBC-BE95-F25A85F9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7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D6B4F"/>
                </a:solidFill>
              </a:defRPr>
            </a:pPr>
            <a:r>
              <a:rPr sz="1200" b="1" i="0">
                <a:solidFill>
                  <a:srgbClr val="1D6B4F"/>
                </a:solidFill>
              </a:rPr>
              <a:t>https://metableton-ecole.vercel.app/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4640D-0DA6-4BB1-80B3-01E415C7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43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D665C"/>
                </a:solidFill>
              </a:defRPr>
            </a:pPr>
            <a:r>
              <a:rPr sz="975" b="0" i="0">
                <a:solidFill>
                  <a:srgbClr val="6D665C"/>
                </a:solidFill>
              </a:rPr>
              <a:t>Repo projet: /Users/zub/metableton-school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BDA01-60BA-464C-A78B-D9951864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1638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E5BF"/>
          </a:solidFill>
          <a:ln xmlns:a="http://schemas.openxmlformats.org/drawingml/2006/main" w="9525">
            <a:solidFill>
              <a:srgbClr val="E0A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4D3DC-6FFE-4022-AD7D-00CD2558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143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A5E13"/>
                </a:solidFill>
              </a:defRPr>
            </a:pPr>
            <a:r>
              <a:rPr sz="1200" b="1" i="0">
                <a:solidFill>
                  <a:srgbClr val="8A5E13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F74C6-A2C8-46E4-88E7-FBFD4FAC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91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41414"/>
                </a:solidFill>
              </a:defRPr>
            </a:pPr>
            <a:r>
              <a:rPr sz="975" b="1" i="0">
                <a:solidFill>
                  <a:srgbClr val="141414"/>
                </a:solidFill>
              </a:rPr>
              <a:t>Tester avec 3 a 5 personnes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20BB0-9945-4538-998C-3785DAF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10150"/>
            <a:ext cx="1638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6438E-048A-49B3-A9E2-45193479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43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D6B4F"/>
                </a:solidFill>
              </a:defRPr>
            </a:pPr>
            <a:r>
              <a:rPr sz="1200" b="1" i="0">
                <a:solidFill>
                  <a:srgbClr val="1D6B4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1CAD9-36FF-4155-B098-177AAC51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91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141414"/>
                </a:solidFill>
              </a:defRPr>
            </a:pPr>
            <a:r>
              <a:rPr sz="975" b="0" i="0">
                <a:solidFill>
                  <a:srgbClr val="141414"/>
                </a:solidFill>
              </a:rPr>
              <a:t>Observer le parcours reel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F8670-BEC6-4354-8EE8-D0C115CD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10150"/>
            <a:ext cx="1638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269F4-C307-4DF0-9EAC-F1DE5A72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43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D6B4F"/>
                </a:solidFill>
              </a:defRPr>
            </a:pPr>
            <a:r>
              <a:rPr sz="1200" b="1" i="0">
                <a:solidFill>
                  <a:srgbClr val="1D6B4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5EB3C-1082-4524-9509-AEEEC26D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91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141414"/>
                </a:solidFill>
              </a:defRPr>
            </a:pPr>
            <a:r>
              <a:rPr sz="975" b="0" i="0">
                <a:solidFill>
                  <a:srgbClr val="141414"/>
                </a:solidFill>
              </a:rPr>
              <a:t>Transformer les retours en 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F3C1B-FCFD-40FE-9BD6-4EA21E46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D665C"/>
                </a:solidFill>
              </a:defRPr>
            </a:pPr>
            <a:r>
              <a:rPr sz="750" b="0" i="0">
                <a:solidFill>
                  <a:srgbClr val="6D665C"/>
                </a:solidFill>
              </a:rPr>
              <a:t>Metableton Ecole - Beta privee - 2026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FF424-C140-4268-AAD8-B4B65A92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D6B4F"/>
                </a:solidFill>
              </a:defRPr>
            </a:pPr>
            <a:r>
              <a:rPr sz="1050" b="1" i="0">
                <a:solidFill>
                  <a:srgbClr val="1D6B4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65151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089635-8CD8-4D91-B000-BB275E4C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D6B4F"/>
                </a:solidFill>
              </a:defRPr>
            </a:pPr>
            <a:r>
              <a:rPr sz="900" b="1" i="0">
                <a:solidFill>
                  <a:srgbClr val="1D6B4F"/>
                </a:solidFill>
              </a:rPr>
              <a:t>OBJECTIF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2445F-024C-4F5F-BC8B-E13B9AAF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41414"/>
                </a:solidFill>
              </a:defRPr>
            </a:pPr>
            <a:r>
              <a:rPr sz="2700" b="1" i="0">
                <a:solidFill>
                  <a:srgbClr val="141414"/>
                </a:solidFill>
              </a:rPr>
              <a:t>Ce que la beta doit valider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D975B-7D1A-46ED-AD9B-43ACE6D6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La beta ne sert pas a tout tester. Elle sert a repondre a trois questions simples.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8BFAC-BCA8-45EE-801E-7BB8C915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D665C"/>
                </a:solidFill>
              </a:defRPr>
            </a:pPr>
            <a:r>
              <a:rPr sz="750" b="0" i="0">
                <a:solidFill>
                  <a:srgbClr val="6D665C"/>
                </a:solidFill>
              </a:rPr>
              <a:t>Metableton Ecole - Beta privee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BC4BD-D199-4065-B6F8-AEC8230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D6B4F"/>
                </a:solidFill>
              </a:defRPr>
            </a:pPr>
            <a:r>
              <a:rPr sz="1050" b="1" i="0">
                <a:solidFill>
                  <a:srgbClr val="1D6B4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D7471-6B79-49AA-AD54-22EBE585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276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CEBE1"/>
          </a:solidFill>
          <a:ln xmlns:a="http://schemas.openxmlformats.org/drawingml/2006/main" w="9525">
            <a:solidFill>
              <a:srgbClr val="1D6B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28845-C79B-46A4-AF1D-1C995D02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95100-0F54-4613-9EB5-D80CBB2E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1414"/>
                </a:solidFill>
              </a:defRPr>
            </a:pPr>
            <a:r>
              <a:rPr sz="2250" b="1" i="0">
                <a:solidFill>
                  <a:srgbClr val="141414"/>
                </a:solidFill>
              </a:rPr>
              <a:t>Compris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C135D-85B0-4354-84AB-D4C22B5B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2552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1414"/>
                </a:solidFill>
              </a:defRPr>
            </a:pPr>
            <a:r>
              <a:rPr sz="1500" b="0" i="0">
                <a:solidFill>
                  <a:srgbClr val="141414"/>
                </a:solidFill>
              </a:rPr>
              <a:t>Les visiteurs comprennent-ils le concept en moins d'une minute 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1059E-A3D5-4D2C-94E4-D80F63E2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276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315C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D8862-AA64-484C-80EC-5FDB0BBD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002EE-A7CE-42B1-A585-4CEBE673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57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1414"/>
                </a:solidFill>
              </a:defRPr>
            </a:pPr>
            <a:r>
              <a:rPr sz="2250" b="1" i="0">
                <a:solidFill>
                  <a:srgbClr val="141414"/>
                </a:solidFill>
              </a:rPr>
              <a:t>Utile 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FA137-631D-45B2-951B-01C28A9B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552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1414"/>
                </a:solidFill>
              </a:defRPr>
            </a:pPr>
            <a:r>
              <a:rPr sz="1500" b="0" i="0">
                <a:solidFill>
                  <a:srgbClr val="141414"/>
                </a:solidFill>
              </a:rPr>
              <a:t>Les eleves, professeurs et responsables voient-ils une vraie valeur 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5F2F3-D883-45B1-91DF-AF41932C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276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E5BF"/>
          </a:solidFill>
          <a:ln xmlns:a="http://schemas.openxmlformats.org/drawingml/2006/main" w="9525">
            <a:solidFill>
              <a:srgbClr val="E0A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2FEF8-8A39-423C-9B4D-4FD6616D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6AA4D-0626-4AAE-89CF-7E1F9E99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1414"/>
                </a:solidFill>
              </a:defRPr>
            </a:pPr>
            <a:r>
              <a:rPr sz="2250" b="1" i="0">
                <a:solidFill>
                  <a:srgbClr val="141414"/>
                </a:solidFill>
              </a:rPr>
              <a:t>Pret 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80016-CEF0-47C7-8DB2-D5C9D093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2552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1414"/>
                </a:solidFill>
              </a:defRPr>
            </a:pPr>
            <a:r>
              <a:rPr sz="1500" b="0" i="0">
                <a:solidFill>
                  <a:srgbClr val="141414"/>
                </a:solidFill>
              </a:rPr>
              <a:t>Le MVP est-il presentable pour une beta plus large ou une V1 limitee 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D247C-A078-49C4-8455-4CCEEF59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967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D6B4F"/>
                </a:solidFill>
              </a:defRPr>
            </a:pPr>
            <a:r>
              <a:rPr sz="1575" b="1" i="0">
                <a:solidFill>
                  <a:srgbClr val="1D6B4F"/>
                </a:solidFill>
              </a:rPr>
              <a:t>Le bon resultat n'est pas une liste infinie d'idees. C'est une decision claire: corriger, elargir, lancer ou repositionner.</a:t>
            </a:r>
          </a:p>
        </p:txBody>
      </p:sp>
    </p:spTree>
    <p:extLst>
      <p:ext uri="{BB962C8B-B14F-4D97-AF65-F5344CB8AC3E}">
        <p14:creationId xmlns:p14="http://schemas.microsoft.com/office/powerpoint/2010/main" val="749163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68E0C-7260-4A7E-8958-8A4C597C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D6B4F"/>
                </a:solidFill>
              </a:defRPr>
            </a:pPr>
            <a:r>
              <a:rPr sz="900" b="1" i="0">
                <a:solidFill>
                  <a:srgbClr val="1D6B4F"/>
                </a:solidFill>
              </a:rPr>
              <a:t>COHORTE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61C3D-22A0-48A7-A667-1392E175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41414"/>
                </a:solidFill>
              </a:defRPr>
            </a:pPr>
            <a:r>
              <a:rPr sz="2700" b="1" i="0">
                <a:solidFill>
                  <a:srgbClr val="141414"/>
                </a:solidFill>
              </a:rPr>
              <a:t>Commencer petit, mais bien 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AB9B6-006C-47B5-96F9-510130B9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Le premier batch doit etre facile a gerer et riche en retours qualitatifs.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65515-0F9E-4E47-BD13-ABD91040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D665C"/>
                </a:solidFill>
              </a:defRPr>
            </a:pPr>
            <a:r>
              <a:rPr sz="750" b="0" i="0">
                <a:solidFill>
                  <a:srgbClr val="6D665C"/>
                </a:solidFill>
              </a:rPr>
              <a:t>Metableton Ecole - Beta privee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961EE-FEDF-4400-B97A-901F5CEE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D6B4F"/>
                </a:solidFill>
              </a:defRPr>
            </a:pPr>
            <a:r>
              <a:rPr sz="1050" b="1" i="0">
                <a:solidFill>
                  <a:srgbClr val="1D6B4F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34001-5B41-4590-A617-EFF2B51C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1D6B4F"/>
                </a:solidFill>
              </a:defRPr>
            </a:pPr>
            <a:r>
              <a:rPr sz="4950" b="1" i="0">
                <a:solidFill>
                  <a:srgbClr val="1D6B4F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275C9-7669-4273-84A7-C4BA5A21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D665C"/>
                </a:solidFill>
              </a:defRPr>
            </a:pPr>
            <a:r>
              <a:rPr sz="1200" b="0" i="0">
                <a:solidFill>
                  <a:srgbClr val="6D665C"/>
                </a:solidFill>
              </a:rPr>
              <a:t>testeurs minimum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121AC-F8EC-43EA-A456-1576F156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645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315C8B"/>
                </a:solidFill>
              </a:defRPr>
            </a:pPr>
            <a:r>
              <a:rPr sz="4950" b="1" i="0">
                <a:solidFill>
                  <a:srgbClr val="315C8B"/>
                </a:solidFill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CCACD-02CE-4601-A84E-F0DFC765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D665C"/>
                </a:solidFill>
              </a:defRPr>
            </a:pPr>
            <a:r>
              <a:rPr sz="1200" b="0" i="0">
                <a:solidFill>
                  <a:srgbClr val="6D665C"/>
                </a:solidFill>
              </a:rPr>
              <a:t>testeurs maximum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9A2C7-C467-4804-A554-B8EC0E91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E0A13A"/>
                </a:solidFill>
              </a:defRPr>
            </a:pPr>
            <a:r>
              <a:rPr sz="4950" b="1" i="0">
                <a:solidFill>
                  <a:srgbClr val="E0A13A"/>
                </a:solidFill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2DA2B-9C51-4AB8-B560-680369AA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D665C"/>
                </a:solidFill>
              </a:defRPr>
            </a:pPr>
            <a:r>
              <a:rPr sz="1200" b="0" i="0">
                <a:solidFill>
                  <a:srgbClr val="6D665C"/>
                </a:solidFill>
              </a:rPr>
              <a:t>jours de 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2E91A-9136-4098-887E-337C5B24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85950"/>
            <a:ext cx="39052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9E872-4632-4AA0-8E45-674A4F5A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</a:defRPr>
            </a:pPr>
            <a:r>
              <a:rPr sz="2025" b="1" i="0">
                <a:solidFill>
                  <a:srgbClr val="141414"/>
                </a:solidFill>
              </a:rPr>
              <a:t>Profils a couvrir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B6621-D2CF-42F0-AA7F-A1F969D6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86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6DCA8-6D64-481E-8110-58806DF1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194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41414"/>
                </a:solidFill>
              </a:defRPr>
            </a:pPr>
            <a:r>
              <a:rPr sz="1425" b="0" i="0">
                <a:solidFill>
                  <a:srgbClr val="141414"/>
                </a:solidFill>
              </a:rPr>
              <a:t>1 eleve / musicien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907B1-7DF6-48DE-86AE-9BA2EB71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86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727B4-F3C1-4667-AD7B-CDD7BE5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194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41414"/>
                </a:solidFill>
              </a:defRPr>
            </a:pPr>
            <a:r>
              <a:rPr sz="1425" b="0" i="0">
                <a:solidFill>
                  <a:srgbClr val="141414"/>
                </a:solidFill>
              </a:rPr>
              <a:t>1 enseignant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36B60-D77B-44DC-B5A2-71F17F3C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86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B663D-7961-4AC8-B0DC-634AB1F2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195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41414"/>
                </a:solidFill>
              </a:defRPr>
            </a:pPr>
            <a:r>
              <a:rPr sz="1425" b="0" i="0">
                <a:solidFill>
                  <a:srgbClr val="141414"/>
                </a:solidFill>
              </a:rPr>
              <a:t>1 admin / responsable pedagogique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C895B-E20A-4F85-9C01-55F2A7FB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86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B9A65-F884-47FE-B997-76A0CA35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19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41414"/>
                </a:solidFill>
              </a:defRPr>
            </a:pPr>
            <a:r>
              <a:rPr sz="1425" b="0" i="0">
                <a:solidFill>
                  <a:srgbClr val="141414"/>
                </a:solidFill>
              </a:rPr>
              <a:t>Option: partenaire ecole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0B4D4-7B66-42D0-BD1C-DB8E0FE2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92474-E9AF-4CB7-9106-BFDFF8B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196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41414"/>
                </a:solidFill>
              </a:defRPr>
            </a:pPr>
            <a:r>
              <a:rPr sz="1425" b="0" i="0">
                <a:solidFill>
                  <a:srgbClr val="141414"/>
                </a:solidFill>
              </a:rPr>
              <a:t>Option: utilisateur non technique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05EEC-CCF5-4A4A-925C-55A3E0C0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1414"/>
                </a:solidFill>
              </a:defRPr>
            </a:pPr>
            <a:r>
              <a:rPr sz="2100" b="1" i="0">
                <a:solidFill>
                  <a:srgbClr val="141414"/>
                </a:solidFill>
              </a:rPr>
              <a:t>La beta 1 cherche des signaux forts, pas une statistique parfaite.</a:t>
            </a:r>
          </a:p>
        </p:txBody>
      </p:sp>
    </p:spTree>
    <p:extLst>
      <p:ext uri="{BB962C8B-B14F-4D97-AF65-F5344CB8AC3E}">
        <p14:creationId xmlns:p14="http://schemas.microsoft.com/office/powerpoint/2010/main" val="11196926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539B46-2254-49C2-944C-DC310390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D6B4F"/>
                </a:solidFill>
              </a:defRPr>
            </a:pPr>
            <a:r>
              <a:rPr sz="900" b="1" i="0">
                <a:solidFill>
                  <a:srgbClr val="1D6B4F"/>
                </a:solidFill>
              </a:rPr>
              <a:t>PARCOURS TESTEUR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22774-5004-4E09-AF57-41A6FD9B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41414"/>
                </a:solidFill>
              </a:defRPr>
            </a:pPr>
            <a:r>
              <a:rPr sz="2700" b="1" i="0">
                <a:solidFill>
                  <a:srgbClr val="141414"/>
                </a:solidFill>
              </a:rPr>
              <a:t>Un test court, observe du debut a la fin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715DB-934F-4A6A-BC70-8DFADC83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Objectif: voir ou le parcours devient clair, lent ou confus.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7CDCC-0491-4905-AE97-40B0A133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D665C"/>
                </a:solidFill>
              </a:defRPr>
            </a:pPr>
            <a:r>
              <a:rPr sz="750" b="0" i="0">
                <a:solidFill>
                  <a:srgbClr val="6D665C"/>
                </a:solidFill>
              </a:rPr>
              <a:t>Metableton Ecole - Beta privee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D82CD-CCA6-40D8-8D16-20B0F04E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D6B4F"/>
                </a:solidFill>
              </a:defRPr>
            </a:pPr>
            <a:r>
              <a:rPr sz="1050" b="1" i="0">
                <a:solidFill>
                  <a:srgbClr val="1D6B4F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76B17-E041-4630-8CE8-045080AD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E1"/>
          </a:solidFill>
          <a:ln xmlns:a="http://schemas.openxmlformats.org/drawingml/2006/main" w="9525">
            <a:solidFill>
              <a:srgbClr val="1D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4FCB2-74F8-42E6-B0B0-EC10508F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D6B4F"/>
                </a:solidFill>
              </a:defRPr>
            </a:pPr>
            <a:r>
              <a:rPr sz="1650" b="1" i="0">
                <a:solidFill>
                  <a:srgbClr val="1D6B4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BFA3C-7830-4EDC-BABC-45CEDB7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576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1414"/>
                </a:solidFill>
              </a:defRPr>
            </a:pPr>
            <a:r>
              <a:rPr sz="1500" b="1" i="0">
                <a:solidFill>
                  <a:srgbClr val="141414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A156E-3B3C-4B35-8A16-76184128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62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D665C"/>
                </a:solidFill>
              </a:defRPr>
            </a:pPr>
            <a:r>
              <a:rPr sz="1050" b="0" i="0">
                <a:solidFill>
                  <a:srgbClr val="6D665C"/>
                </a:solidFill>
              </a:rPr>
              <a:t>Comprendre l'offre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46A64-3359-40CE-A7F5-B15731B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6705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ED6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5C152-DECB-4EA9-8C67-6A4CB362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24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315C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A17A2-2A71-49C8-BE13-37E33109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241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315C8B"/>
                </a:solidFill>
              </a:defRPr>
            </a:pPr>
            <a:r>
              <a:rPr sz="1650" b="1" i="0">
                <a:solidFill>
                  <a:srgbClr val="315C8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2FFB6-C9C0-49D6-9B58-495BB622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576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1414"/>
                </a:solidFill>
              </a:defRPr>
            </a:pPr>
            <a:r>
              <a:rPr sz="1500" b="1" i="0">
                <a:solidFill>
                  <a:srgbClr val="141414"/>
                </a:solidFill>
              </a:rPr>
              <a:t>Catalogue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D1A42-1F70-418E-9460-7C8B7756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62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D665C"/>
                </a:solidFill>
              </a:defRPr>
            </a:pPr>
            <a:r>
              <a:rPr sz="1050" b="0" i="0">
                <a:solidFill>
                  <a:srgbClr val="6D665C"/>
                </a:solidFill>
              </a:rPr>
              <a:t>Voir les cours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92457-199C-48B2-BFF0-9879BBA7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6705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ED6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23F21-7EEC-4648-B018-43EE24B7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E1"/>
          </a:solidFill>
          <a:ln xmlns:a="http://schemas.openxmlformats.org/drawingml/2006/main" w="9525">
            <a:solidFill>
              <a:srgbClr val="1D6B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F8DC3-F616-4D02-84FA-31CD0451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241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D6B4F"/>
                </a:solidFill>
              </a:defRPr>
            </a:pPr>
            <a:r>
              <a:rPr sz="1650" b="1" i="0">
                <a:solidFill>
                  <a:srgbClr val="1D6B4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86E1D-6F87-4772-9EF9-5746560F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576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1414"/>
                </a:solidFill>
              </a:defRPr>
            </a:pPr>
            <a:r>
              <a:rPr sz="1500" b="1" i="0">
                <a:solidFill>
                  <a:srgbClr val="141414"/>
                </a:solidFill>
              </a:rPr>
              <a:t>Login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2FE88-15AD-4E96-AB01-11B12F8B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62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D665C"/>
                </a:solidFill>
              </a:defRPr>
            </a:pPr>
            <a:r>
              <a:rPr sz="1050" b="0" i="0">
                <a:solidFill>
                  <a:srgbClr val="6D665C"/>
                </a:solidFill>
              </a:rPr>
              <a:t>Connexion Google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B0613-555E-4753-84E4-575C4F90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6705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ED6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88B20-85E1-42A3-ACCE-94E42FA2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315C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39FAC-64D0-4468-B533-7BAA4C2A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315C8B"/>
                </a:solidFill>
              </a:defRPr>
            </a:pPr>
            <a:r>
              <a:rPr sz="1650" b="1" i="0">
                <a:solidFill>
                  <a:srgbClr val="315C8B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60CD4-804E-48BF-97A3-11710A86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576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1414"/>
                </a:solidFill>
              </a:defRPr>
            </a:pPr>
            <a:r>
              <a:rPr sz="1500" b="1" i="0">
                <a:solidFill>
                  <a:srgbClr val="141414"/>
                </a:solidFill>
              </a:rPr>
              <a:t>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2FDFF-0542-4D11-9861-90679625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62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D665C"/>
                </a:solidFill>
              </a:defRPr>
            </a:pPr>
            <a:r>
              <a:rPr sz="1050" b="0" i="0">
                <a:solidFill>
                  <a:srgbClr val="6D665C"/>
                </a:solidFill>
              </a:rPr>
              <a:t>Tester le 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4053CE-7234-47D0-A053-18DB9180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6705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ED6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470819-D943-4FCB-B483-E129FBD2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E1"/>
          </a:solidFill>
          <a:ln xmlns:a="http://schemas.openxmlformats.org/drawingml/2006/main" w="9525">
            <a:solidFill>
              <a:srgbClr val="1D6B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88AFBF-2964-41D7-9A46-FC7E307A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D6B4F"/>
                </a:solidFill>
              </a:defRPr>
            </a:pPr>
            <a:r>
              <a:rPr sz="1650" b="1" i="0">
                <a:solidFill>
                  <a:srgbClr val="1D6B4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C81279-6817-48D4-9171-59C0AFC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576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1414"/>
                </a:solidFill>
              </a:defRPr>
            </a:pPr>
            <a:r>
              <a:rPr sz="1500" b="1" i="0">
                <a:solidFill>
                  <a:srgbClr val="141414"/>
                </a:solidFill>
              </a:rPr>
              <a:t>Classroom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ED89C3-713C-40C3-A53A-6D21A6FB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62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D665C"/>
                </a:solidFill>
              </a:defRPr>
            </a:pPr>
            <a:r>
              <a:rPr sz="1050" b="0" i="0">
                <a:solidFill>
                  <a:srgbClr val="6D665C"/>
                </a:solidFill>
              </a:rPr>
              <a:t>Comprendre le lien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E6A1F1-B25C-4A11-B09F-1ED4858A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6705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ED6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FB9C0F-4B91-46F3-8EF4-3AFCD85A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241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315C8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99C0A0-7FA8-45FC-BDC3-6D0B4057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41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315C8B"/>
                </a:solidFill>
              </a:defRPr>
            </a:pPr>
            <a:r>
              <a:rPr sz="1650" b="1" i="0">
                <a:solidFill>
                  <a:srgbClr val="315C8B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072911-A9D4-4755-88C1-5A5F9D1A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576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1414"/>
                </a:solidFill>
              </a:defRPr>
            </a:pPr>
            <a:r>
              <a:rPr sz="1500" b="1" i="0">
                <a:solidFill>
                  <a:srgbClr val="141414"/>
                </a:solidFill>
              </a:rPr>
              <a:t>Feedback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4F1A16-9443-4DFE-9D31-98A17FF2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62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D665C"/>
                </a:solidFill>
              </a:defRPr>
            </a:pPr>
            <a:r>
              <a:rPr sz="1050" b="0" i="0">
                <a:solidFill>
                  <a:srgbClr val="6D665C"/>
                </a:solidFill>
              </a:rPr>
              <a:t>Remplir le 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90B734-065C-4FD1-9F84-9EEE3DBC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53000"/>
            <a:ext cx="8534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C65989-330C-4D65-BCB1-3BFB8679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81600"/>
            <a:ext cx="788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D6B4F"/>
                </a:solidFill>
              </a:defRPr>
            </a:pPr>
            <a:r>
              <a:rPr sz="1425" b="1" i="0">
                <a:solidFill>
                  <a:srgbClr val="1D6B4F"/>
                </a:solidFill>
              </a:rPr>
              <a:t>Regle de test: laisser la personne avancer seule autant que possible, puis noter le moment exact de confusion.</a:t>
            </a:r>
          </a:p>
        </p:txBody>
      </p:sp>
    </p:spTree>
    <p:extLst>
      <p:ext uri="{BB962C8B-B14F-4D97-AF65-F5344CB8AC3E}">
        <p14:creationId xmlns:p14="http://schemas.microsoft.com/office/powerpoint/2010/main" val="981057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E6F11A-C513-4D8E-BD49-3AE9761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D6B4F"/>
                </a:solidFill>
              </a:defRPr>
            </a:pPr>
            <a:r>
              <a:rPr sz="900" b="1" i="0">
                <a:solidFill>
                  <a:srgbClr val="1D6B4F"/>
                </a:solidFill>
              </a:rPr>
              <a:t>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EBF17-95AC-4849-9B52-F4DD291E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41414"/>
                </a:solidFill>
              </a:defRPr>
            </a:pPr>
            <a:r>
              <a:rPr sz="2700" b="1" i="0">
                <a:solidFill>
                  <a:srgbClr val="141414"/>
                </a:solidFill>
              </a:rPr>
              <a:t>Ce que chaque testeur recoit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75A9F-0813-424F-89DC-1C4E5E08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On reduit la charge cognitive: peu de documents, des consignes nettes.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CB2A3-577B-447B-9479-BA7B3AFF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D665C"/>
                </a:solidFill>
              </a:defRPr>
            </a:pPr>
            <a:r>
              <a:rPr sz="750" b="0" i="0">
                <a:solidFill>
                  <a:srgbClr val="6D665C"/>
                </a:solidFill>
              </a:rPr>
              <a:t>Metableton Ecole - Beta privee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7F419-ADB2-4F1B-BB5E-993C0EB7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D6B4F"/>
                </a:solidFill>
              </a:defRPr>
            </a:pPr>
            <a:r>
              <a:rPr sz="1050" b="1" i="0">
                <a:solidFill>
                  <a:srgbClr val="1D6B4F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61335-16E8-46A4-A6FD-1798E2E5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4457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FF3DF-4C08-407B-95DE-2E28158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050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D6B4F"/>
                </a:solidFill>
              </a:defRPr>
            </a:pPr>
            <a:r>
              <a:rPr sz="2250" b="1" i="0">
                <a:solidFill>
                  <a:srgbClr val="1D6B4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E3B8C-EBE5-498A-A0CF-ED903D78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57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1414"/>
                </a:solidFill>
              </a:defRPr>
            </a:pPr>
            <a:r>
              <a:rPr sz="1875" b="1" i="0">
                <a:solidFill>
                  <a:srgbClr val="141414"/>
                </a:solidFill>
              </a:rPr>
              <a:t>Lien beta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F279B-CE22-42FF-B874-DE3FD1B1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09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URL de la plateforme a tester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F5F5E-EB92-4CDB-AA23-24508616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19300"/>
            <a:ext cx="4457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44192-6531-439E-A301-65C95DAE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D6B4F"/>
                </a:solidFill>
              </a:defRPr>
            </a:pPr>
            <a:r>
              <a:rPr sz="2250" b="1" i="0">
                <a:solidFill>
                  <a:srgbClr val="1D6B4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27703-66A6-4651-B7AA-7161521B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57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1414"/>
                </a:solidFill>
              </a:defRPr>
            </a:pPr>
            <a:r>
              <a:rPr sz="1875" b="1" i="0">
                <a:solidFill>
                  <a:srgbClr val="141414"/>
                </a:solidFill>
              </a:rPr>
              <a:t>Role clair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FBB94-0858-40F1-BD1A-0F1DD898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Eleve, enseignant ou 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CF2BA-FD9A-49B4-A6EA-C795CD72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4457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CB8FF-67B3-49F7-BDCB-3B350A9C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D6B4F"/>
                </a:solidFill>
              </a:defRPr>
            </a:pPr>
            <a:r>
              <a:rPr sz="2250" b="1" i="0">
                <a:solidFill>
                  <a:srgbClr val="1D6B4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46CAA-1AF0-4632-9C71-D0EAF989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52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1414"/>
                </a:solidFill>
              </a:defRPr>
            </a:pPr>
            <a:r>
              <a:rPr sz="1875" b="1" i="0">
                <a:solidFill>
                  <a:srgbClr val="141414"/>
                </a:solidFill>
              </a:rPr>
              <a:t>Checklist courte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0E8D1-E81C-434E-BA65-0BDD5FEB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05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Parcours adapte au 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435C6-55F3-43CC-928C-1E8BEA6A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4457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0A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9BFF6-7A7B-429A-B94E-5978E5CD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E0A13A"/>
                </a:solidFill>
              </a:defRPr>
            </a:pPr>
            <a:r>
              <a:rPr sz="2250" b="1" i="0">
                <a:solidFill>
                  <a:srgbClr val="E0A13A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09098-FC69-444F-9E9A-F9DE44D8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52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1414"/>
                </a:solidFill>
              </a:defRPr>
            </a:pPr>
            <a:r>
              <a:rPr sz="1875" b="1" i="0">
                <a:solidFill>
                  <a:srgbClr val="141414"/>
                </a:solidFill>
              </a:rPr>
              <a:t>Formulaire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CCF20-382B-4463-9BC9-68076D60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05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Feedback principal apres le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4F85C-E965-4D17-8325-8313B575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05450"/>
            <a:ext cx="887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D665C"/>
                </a:solidFill>
              </a:defRPr>
            </a:pPr>
            <a:r>
              <a:rPr sz="1425" b="0" i="0">
                <a:solidFill>
                  <a:srgbClr val="6D665C"/>
                </a:solidFill>
              </a:rPr>
              <a:t>Les limitations connues restent disponibles, mais ne doivent pas devenir un obstacle avant le test.</a:t>
            </a:r>
          </a:p>
        </p:txBody>
      </p:sp>
    </p:spTree>
    <p:extLst>
      <p:ext uri="{BB962C8B-B14F-4D97-AF65-F5344CB8AC3E}">
        <p14:creationId xmlns:p14="http://schemas.microsoft.com/office/powerpoint/2010/main" val="1701727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24F19-5A1B-4665-9AB4-F7F297F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D6B4F"/>
                </a:solidFill>
              </a:defRPr>
            </a:pPr>
            <a:r>
              <a:rPr sz="900" b="1" i="0">
                <a:solidFill>
                  <a:srgbClr val="1D6B4F"/>
                </a:solidFill>
              </a:rPr>
              <a:t>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D0F89-177F-4EA7-958F-5E843B17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41414"/>
                </a:solidFill>
              </a:defRPr>
            </a:pPr>
            <a:r>
              <a:rPr sz="2700" b="1" i="0">
                <a:solidFill>
                  <a:srgbClr val="141414"/>
                </a:solidFill>
              </a:rPr>
              <a:t>Deux formulaires, pas un questionnaire geant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21547-52C0-41B4-860F-35BC1D3C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Le testeur repond vite; l'equipe garde des donnees exploitables.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C1599-CF40-4E23-8230-D03F3D93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D665C"/>
                </a:solidFill>
              </a:defRPr>
            </a:pPr>
            <a:r>
              <a:rPr sz="750" b="0" i="0">
                <a:solidFill>
                  <a:srgbClr val="6D665C"/>
                </a:solidFill>
              </a:rPr>
              <a:t>Metableton Ecole - Beta privee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9FA7E-E9D8-46C5-9EB2-0DC9ABC9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D6B4F"/>
                </a:solidFill>
              </a:defRPr>
            </a:pPr>
            <a:r>
              <a:rPr sz="1050" b="1" i="0">
                <a:solidFill>
                  <a:srgbClr val="1D6B4F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38A4D-C24B-44DD-A6FA-C97F3C15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4533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DCEBE1"/>
          </a:solidFill>
          <a:ln xmlns:a="http://schemas.openxmlformats.org/drawingml/2006/main" w="9525">
            <a:solidFill>
              <a:srgbClr val="1D6B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51D88-A390-4447-8258-921D06EC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D6B4F"/>
                </a:solidFill>
              </a:defRPr>
            </a:pPr>
            <a:r>
              <a:rPr sz="2250" b="1" i="0">
                <a:solidFill>
                  <a:srgbClr val="1D6B4F"/>
                </a:solidFill>
              </a:rPr>
              <a:t>Formulaire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FE87D-CCA8-4B9A-8420-63246D8D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62460-DCEF-40B8-B6EC-8363DF7B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861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Obligatoire pour tous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BA71F-D862-45DB-887D-162FD4A0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14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13606-6B6F-4F3A-9CDB-885CBD99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480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3 a 5 minutes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B2A6B-C211-480F-9E4A-2B181718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76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58CBA-F175-4560-B7ED-9C677FA9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100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Compréhension, utilite, friction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102B6-E326-4D75-9CD0-120210B9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48730-D2D6-4FB3-BDCE-93A1ECC8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719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Priorite d'amelioration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83C6F-9001-4153-9E70-9BC76F8E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38350"/>
            <a:ext cx="4533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4E5BF"/>
          </a:solidFill>
          <a:ln xmlns:a="http://schemas.openxmlformats.org/drawingml/2006/main" w="9525">
            <a:solidFill>
              <a:srgbClr val="E0A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E2ADE-645E-4970-974D-D57823C8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9A6814"/>
                </a:solidFill>
              </a:defRPr>
            </a:pPr>
            <a:r>
              <a:rPr sz="2250" b="1" i="0">
                <a:solidFill>
                  <a:srgbClr val="9A6814"/>
                </a:solidFill>
              </a:rPr>
              <a:t>Formulaire bug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B2C1C-D3D6-46ED-8879-466C2F97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52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33B178-9A6E-428B-AABC-27E2285B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Seulement si bug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5639C-293E-4888-BFCF-1BF83B84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14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A279D-F07F-4095-8307-977F302D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480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2 a 4 minutes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8BF02-A4E1-4F0C-A5BD-2B4211F9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76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F26CB-2017-4E07-BE66-5AFD2BDE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100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Page, action, resultat observe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47C3F-6598-4BBB-97C6-A85025D4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38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F74629-0287-42E6-895D-D63D5E88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Etapes de reproduction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E1BF62-BEF6-4753-B5BB-66BB673D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1414"/>
                </a:solidFill>
              </a:defRPr>
            </a:pPr>
            <a:r>
              <a:rPr sz="1800" b="1" i="0">
                <a:solidFill>
                  <a:srgbClr val="141414"/>
                </a:solidFill>
              </a:rPr>
              <a:t>La question cle: chaque reponse doit aider a prendre une decision.</a:t>
            </a:r>
          </a:p>
        </p:txBody>
      </p:sp>
    </p:spTree>
    <p:extLst>
      <p:ext uri="{BB962C8B-B14F-4D97-AF65-F5344CB8AC3E}">
        <p14:creationId xmlns:p14="http://schemas.microsoft.com/office/powerpoint/2010/main" val="559112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72216F-0DEC-47B4-BC43-001073B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D6B4F"/>
                </a:solidFill>
              </a:defRPr>
            </a:pPr>
            <a:r>
              <a:rPr sz="900" b="1" i="0">
                <a:solidFill>
                  <a:srgbClr val="1D6B4F"/>
                </a:solidFill>
              </a:rPr>
              <a:t>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CFABC-F528-446F-BF7C-BEB6A60C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41414"/>
                </a:solidFill>
              </a:defRPr>
            </a:pPr>
            <a:r>
              <a:rPr sz="2700" b="1" i="0">
                <a:solidFill>
                  <a:srgbClr val="141414"/>
                </a:solidFill>
              </a:rPr>
              <a:t>Cadence simple sur 7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CA021-BD5E-4807-9DBA-B491578B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Un cycle court suffit pour apprendre, corriger et decider.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5AC3D-B965-4BE8-A748-40F704E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D665C"/>
                </a:solidFill>
              </a:defRPr>
            </a:pPr>
            <a:r>
              <a:rPr sz="750" b="0" i="0">
                <a:solidFill>
                  <a:srgbClr val="6D665C"/>
                </a:solidFill>
              </a:rPr>
              <a:t>Metableton Ecole - Beta privee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9918D-50F0-4F8B-8EE9-F950F8F2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D6B4F"/>
                </a:solidFill>
              </a:defRPr>
            </a:pPr>
            <a:r>
              <a:rPr sz="1050" b="1" i="0">
                <a:solidFill>
                  <a:srgbClr val="1D6B4F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9D0FF-3BBC-4D9E-899B-A3D939E6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466850" cy="16002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1D6B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2ECF9-CF13-46A4-BF92-3818CD6B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D6B4F"/>
                </a:solidFill>
              </a:defRPr>
            </a:pPr>
            <a:r>
              <a:rPr sz="2550" b="1" i="0">
                <a:solidFill>
                  <a:srgbClr val="1D6B4F"/>
                </a:solidFill>
              </a:rPr>
              <a:t>J0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CF33C-7974-4DE8-BC6F-8F3F5EBC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1414"/>
                </a:solidFill>
              </a:defRPr>
            </a:pPr>
            <a:r>
              <a:rPr sz="1350" b="1" i="0">
                <a:solidFill>
                  <a:srgbClr val="141414"/>
                </a:solidFill>
              </a:rPr>
              <a:t>Preparation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6163A-9145-4508-B7BF-17BAD2F8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1466850" cy="16002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315C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C9EA4-AFF6-4E61-A689-BFFE4025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15C8B"/>
                </a:solidFill>
              </a:defRPr>
            </a:pPr>
            <a:r>
              <a:rPr sz="2550" b="1" i="0">
                <a:solidFill>
                  <a:srgbClr val="315C8B"/>
                </a:solidFill>
              </a:rPr>
              <a:t>J1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CF19B-6F2B-4EE6-BED4-014BE325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909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1414"/>
                </a:solidFill>
              </a:defRPr>
            </a:pPr>
            <a:r>
              <a:rPr sz="1350" b="1" i="0">
                <a:solidFill>
                  <a:srgbClr val="141414"/>
                </a:solidFill>
              </a:rPr>
              <a:t>Invitations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C01B2-FD9A-4C19-A7BF-9541756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1466850" cy="16002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E5BF"/>
          </a:solidFill>
          <a:ln xmlns:a="http://schemas.openxmlformats.org/drawingml/2006/main" w="9525">
            <a:solidFill>
              <a:srgbClr val="E0A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60CB2-0F9C-48D3-BFEF-22F3645D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E0A13A"/>
                </a:solidFill>
              </a:defRPr>
            </a:pPr>
            <a:r>
              <a:rPr sz="2100" b="1" i="0">
                <a:solidFill>
                  <a:srgbClr val="E0A13A"/>
                </a:solidFill>
              </a:rPr>
              <a:t>J2-J4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48DC8-14B2-44FF-97E3-1B389C02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1414"/>
                </a:solidFill>
              </a:defRPr>
            </a:pPr>
            <a:r>
              <a:rPr sz="1350" b="1" i="0">
                <a:solidFill>
                  <a:srgbClr val="141414"/>
                </a:solidFill>
              </a:rPr>
              <a:t>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CBFFC-9A3B-4B8F-A358-2B216498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1466850" cy="16002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1D6B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3E998-3511-4FF9-A980-96C3B642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D6B4F"/>
                </a:solidFill>
              </a:defRPr>
            </a:pPr>
            <a:r>
              <a:rPr sz="2550" b="1" i="0">
                <a:solidFill>
                  <a:srgbClr val="1D6B4F"/>
                </a:solidFill>
              </a:rPr>
              <a:t>J5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33051-0378-47BD-B28E-E06D5DFB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1414"/>
                </a:solidFill>
              </a:defRPr>
            </a:pPr>
            <a:r>
              <a:rPr sz="1350" b="1" i="0">
                <a:solidFill>
                  <a:srgbClr val="141414"/>
                </a:solidFill>
              </a:rPr>
              <a:t>Triage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BB77E-68E5-40C5-AAFF-31B9AB1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1466850" cy="16002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315C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4AF90-2722-4C2B-8B06-BB024FDE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15C8B"/>
                </a:solidFill>
              </a:defRPr>
            </a:pPr>
            <a:r>
              <a:rPr sz="2550" b="1" i="0">
                <a:solidFill>
                  <a:srgbClr val="315C8B"/>
                </a:solidFill>
              </a:rPr>
              <a:t>J6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94397-203C-43F8-BF9F-EE424FEB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1414"/>
                </a:solidFill>
              </a:defRPr>
            </a:pPr>
            <a:r>
              <a:rPr sz="1350" b="1" i="0">
                <a:solidFill>
                  <a:srgbClr val="141414"/>
                </a:solidFill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FBF2C-7DAF-4590-ABB8-F5AD96A9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466850" cy="16002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0A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4E0FC-5802-44AD-B9F9-F49D6864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8130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E0A13A"/>
                </a:solidFill>
              </a:defRPr>
            </a:pPr>
            <a:r>
              <a:rPr sz="2550" b="1" i="0">
                <a:solidFill>
                  <a:srgbClr val="E0A13A"/>
                </a:solidFill>
              </a:rPr>
              <a:t>J7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CA94B-4D09-4EAA-8642-B39D7DD2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909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1414"/>
                </a:solidFill>
              </a:defRPr>
            </a:pPr>
            <a:r>
              <a:rPr sz="1350" b="1" i="0">
                <a:solidFill>
                  <a:srgbClr val="141414"/>
                </a:solidFill>
              </a:rPr>
              <a:t>Retour testeurs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E9276-84A0-4803-9C65-EB7C50A9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29200"/>
            <a:ext cx="872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D6B4F"/>
                </a:solidFill>
              </a:defRPr>
            </a:pPr>
            <a:r>
              <a:rPr sz="1575" b="1" i="0">
                <a:solidFill>
                  <a:srgbClr val="1D6B4F"/>
                </a:solidFill>
              </a:rPr>
              <a:t>Pendant J2-J4, on evite de corriger tout de suite sauf bug bloquant. On observe d'abord.</a:t>
            </a:r>
          </a:p>
        </p:txBody>
      </p:sp>
    </p:spTree>
    <p:extLst>
      <p:ext uri="{BB962C8B-B14F-4D97-AF65-F5344CB8AC3E}">
        <p14:creationId xmlns:p14="http://schemas.microsoft.com/office/powerpoint/2010/main" val="1127793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18CEC9-D672-4B20-8154-6DA5ACD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D6B4F"/>
                </a:solidFill>
              </a:defRPr>
            </a:pPr>
            <a:r>
              <a:rPr sz="900" b="1" i="0">
                <a:solidFill>
                  <a:srgbClr val="1D6B4F"/>
                </a:solidFill>
              </a:rPr>
              <a:t>TRIAGE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16259-A97B-41CA-8BD7-CEC7F2DF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41414"/>
                </a:solidFill>
              </a:defRPr>
            </a:pPr>
            <a:r>
              <a:rPr sz="2700" b="1" i="0">
                <a:solidFill>
                  <a:srgbClr val="141414"/>
                </a:solidFill>
              </a:rPr>
              <a:t>Transformer les retours en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14569-03AD-45F9-98EC-AA480D29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Chaque retour doit sortir avec un statut: corriger, reporter, ignorer ou approfondir.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F2DFF-093C-409C-B00D-CBB2AD9F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D665C"/>
                </a:solidFill>
              </a:defRPr>
            </a:pPr>
            <a:r>
              <a:rPr sz="750" b="0" i="0">
                <a:solidFill>
                  <a:srgbClr val="6D665C"/>
                </a:solidFill>
              </a:rPr>
              <a:t>Metableton Ecole - Beta privee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B37EA-6297-4CAE-87CE-6155CE75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D6B4F"/>
                </a:solidFill>
              </a:defRPr>
            </a:pPr>
            <a:r>
              <a:rPr sz="1050" b="1" i="0">
                <a:solidFill>
                  <a:srgbClr val="1D6B4F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2B8B1-EA9A-4278-B506-02D49E53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952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B48DB-24D0-4E34-9830-232415C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38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3F428-9C14-416F-9DD7-9811772C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43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1414"/>
                </a:solidFill>
              </a:defRPr>
            </a:pPr>
            <a:r>
              <a:rPr sz="1950" b="1" i="0">
                <a:solidFill>
                  <a:srgbClr val="141414"/>
                </a:solidFill>
              </a:rPr>
              <a:t>Recevoir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8CFDF-ED54-474B-BB95-454F52E1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86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Google Form, message, email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BACC6-AC3D-4B10-99BA-AA3E5C1C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790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277AF-6771-4FAA-906D-C476177E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37431-BBF9-47AB-93C6-8AA9CBB0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1414"/>
                </a:solidFill>
              </a:defRPr>
            </a:pPr>
            <a:r>
              <a:rPr sz="1950" b="1" i="0">
                <a:solidFill>
                  <a:srgbClr val="141414"/>
                </a:solidFill>
              </a:rPr>
              <a:t>Classer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8DF2C-E0F3-4434-9147-1A2EF585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24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Bug, UX, contenu, feature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6B91B-C3B9-4F7A-920C-4E3AB28F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6290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A59C2-13AB-43FC-93D5-5A0CC0CC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A2459-B744-47CF-84FF-76200FF6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1414"/>
                </a:solidFill>
              </a:defRPr>
            </a:pPr>
            <a:r>
              <a:rPr sz="1950" b="1" i="0">
                <a:solidFill>
                  <a:srgbClr val="141414"/>
                </a:solidFill>
              </a:rPr>
              <a:t>Prioriser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A539B-C359-46EC-A57A-8F1D96D9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P0, P1, P2 ou P3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B28EB4-5C00-4104-96E0-56D6AF06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467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B4BAF-9E2D-4ADD-BA71-5D90194E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E5106-21BE-4B33-B64F-07A60923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57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1414"/>
                </a:solidFill>
              </a:defRPr>
            </a:pPr>
            <a:r>
              <a:rPr sz="1950" b="1" i="0">
                <a:solidFill>
                  <a:srgbClr val="141414"/>
                </a:solidFill>
              </a:rPr>
              <a:t>Actionner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04136-3D1F-4305-A260-10075D02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00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Ticket, backlog ou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4FEA94-7FDF-49B3-B2D4-5A790640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34861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D40C5-4C1C-4E2F-A295-FF4E4A37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1414"/>
                </a:solidFill>
              </a:defRPr>
            </a:pPr>
            <a:r>
              <a:rPr sz="2100" b="1" i="0">
                <a:solidFill>
                  <a:srgbClr val="141414"/>
                </a:solidFill>
              </a:rPr>
              <a:t>Priorites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2450B-EA23-4583-9E7B-17C2B947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14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9574A"/>
                </a:solidFill>
              </a:defRPr>
            </a:pPr>
            <a:r>
              <a:rPr sz="1350" b="1" i="0">
                <a:solidFill>
                  <a:srgbClr val="B9574A"/>
                </a:solidFill>
              </a:rPr>
              <a:t>P0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9886EF-F12C-43C8-A897-1EE205A8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bloquant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25A01-739B-4BA1-BF65-DEC48CA1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E0A13A"/>
                </a:solidFill>
              </a:defRPr>
            </a:pPr>
            <a:r>
              <a:rPr sz="1350" b="1" i="0">
                <a:solidFill>
                  <a:srgbClr val="E0A13A"/>
                </a:solidFill>
              </a:rPr>
              <a:t>P1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B96AFE-0D78-4F5C-8290-F5BE89E8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important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D9C3A3-3EC3-4574-878D-08C67C11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00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15C8B"/>
                </a:solidFill>
              </a:defRPr>
            </a:pPr>
            <a:r>
              <a:rPr sz="1350" b="1" i="0">
                <a:solidFill>
                  <a:srgbClr val="315C8B"/>
                </a:solidFill>
              </a:rPr>
              <a:t>P2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F9853-47CA-460C-830B-68B48754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utile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EAAC2B-4904-4F92-B410-FD05AE15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43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D665C"/>
                </a:solidFill>
              </a:defRPr>
            </a:pPr>
            <a:r>
              <a:rPr sz="1350" b="1" i="0">
                <a:solidFill>
                  <a:srgbClr val="6D665C"/>
                </a:solidFill>
              </a:rPr>
              <a:t>P3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2A1C83-4DC6-4E4C-BDAE-C3844E8F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43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plus tard</a:t>
            </a:r>
          </a:p>
        </p:txBody>
      </p:sp>
    </p:spTree>
    <p:extLst>
      <p:ext uri="{BB962C8B-B14F-4D97-AF65-F5344CB8AC3E}">
        <p14:creationId xmlns:p14="http://schemas.microsoft.com/office/powerpoint/2010/main" val="12632674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699A8-4CA7-4C1C-A6FE-A022C14D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D6B4F"/>
                </a:solidFill>
              </a:defRPr>
            </a:pPr>
            <a:r>
              <a:rPr sz="900" b="1" i="0">
                <a:solidFill>
                  <a:srgbClr val="1D6B4F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EF6E0-7A4E-4373-B1D6-3495E3E5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41414"/>
                </a:solidFill>
              </a:defRPr>
            </a:pPr>
            <a:r>
              <a:rPr sz="2700" b="1" i="0">
                <a:solidFill>
                  <a:srgbClr val="141414"/>
                </a:solidFill>
              </a:rPr>
              <a:t>Criteres de succes et d'arret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BC439-1AC5-4124-958B-AEFB2B25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La beta doit aboutir a un choix, pas seulement a des commentaires.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909FF-E527-4D6E-B6C9-3A0A5019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D665C"/>
                </a:solidFill>
              </a:defRPr>
            </a:pPr>
            <a:r>
              <a:rPr sz="750" b="0" i="0">
                <a:solidFill>
                  <a:srgbClr val="6D665C"/>
                </a:solidFill>
              </a:rPr>
              <a:t>Metableton Ecole - Beta privee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EC520-3D0C-442F-80F4-780DE0A2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D6B4F"/>
                </a:solidFill>
              </a:defRPr>
            </a:pPr>
            <a:r>
              <a:rPr sz="1050" b="1" i="0">
                <a:solidFill>
                  <a:srgbClr val="1D6B4F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C1C4F-8B9E-414F-BE63-BE37ED9F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8006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DCEBE1"/>
          </a:solidFill>
          <a:ln xmlns:a="http://schemas.openxmlformats.org/drawingml/2006/main" w="9525">
            <a:solidFill>
              <a:srgbClr val="1D6B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95030-0DDB-4B1B-9B98-C59A71F0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43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D6B4F"/>
                </a:solidFill>
              </a:defRPr>
            </a:pPr>
            <a:r>
              <a:rPr sz="2325" b="1" i="0">
                <a:solidFill>
                  <a:srgbClr val="1D6B4F"/>
                </a:solidFill>
              </a:rPr>
              <a:t>Succes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EE4FF-7891-4D94-BF23-87D80F98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76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4247C-1976-457D-ADA8-8D8A9B60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4/5 comprennent le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F32B5-CD75-4D3A-9C63-DD2AEE12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38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04EEF-A45D-49C1-B293-FF378F51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3/5 voient une utilite claire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F6379-B7DD-4A19-B742-E9A66179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9AF49-AAA4-404F-8909-B3857CEE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3/5 seraient prets a reutiliser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F602C-14E1-467E-84BB-BAFFDFA5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7B153-AD27-4953-BDC1-8C11602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Aucun bug bloquant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FC168-0F19-4D52-BF0C-DAB088EA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24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CA73F-9BF2-4625-9E1D-F35FAB02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Classroom percu comme avantage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FFBBB-984C-4663-922F-C09A4D91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006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0D7D2"/>
          </a:solidFill>
          <a:ln xmlns:a="http://schemas.openxmlformats.org/drawingml/2006/main" w="9525">
            <a:solidFill>
              <a:srgbClr val="B957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49FDD-F3C4-440C-BA5F-AFD39B76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43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B9574A"/>
                </a:solidFill>
              </a:defRPr>
            </a:pPr>
            <a:r>
              <a:rPr sz="2325" b="1" i="0">
                <a:solidFill>
                  <a:srgbClr val="B9574A"/>
                </a:solidFill>
              </a:rPr>
              <a:t>Alerte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6D367-5B46-4115-B50E-B0FB608A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76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BADA2-84F5-4AA5-A75E-A1CF1268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990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Plus de 50% ne comprennent pas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AD600-2BA1-4B81-A6BE-DD0951B3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38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2759A-417C-4253-B9AC-BFFBD59C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718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Plus de 3 frictions majeures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AD479-2C55-478F-ACE7-52AEDB9A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6F5F4-4D00-42D6-A4FF-32051D6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3380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Bug auth ou Classroom bloquant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9956A-A3C0-424A-849B-593CCE70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527689-6530-46A8-B3EE-8C3B6C40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957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Feedbacks negatifs convergents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CB667-AEB1-45D8-A4B0-112F65CF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24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BBD58-AF52-40E7-B095-70AF07C0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1414"/>
                </a:solidFill>
              </a:defRPr>
            </a:pPr>
            <a:r>
              <a:rPr sz="1350" b="0" i="0">
                <a:solidFill>
                  <a:srgbClr val="141414"/>
                </a:solidFill>
              </a:rPr>
              <a:t>Positionnement mal compris</a:t>
            </a:r>
          </a:p>
        </p:txBody>
      </p:sp>
    </p:spTree>
    <p:extLst>
      <p:ext uri="{BB962C8B-B14F-4D97-AF65-F5344CB8AC3E}">
        <p14:creationId xmlns:p14="http://schemas.microsoft.com/office/powerpoint/2010/main" val="4365593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334AD4-F209-4392-B8E2-178C0683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D6B4F"/>
                </a:solidFill>
              </a:defRPr>
            </a:pPr>
            <a:r>
              <a:rPr sz="900" b="1" i="0">
                <a:solidFill>
                  <a:srgbClr val="1D6B4F"/>
                </a:solidFill>
              </a:rPr>
              <a:t>LANCEMENT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396FD-7D6B-450D-913D-64933968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41414"/>
                </a:solidFill>
              </a:defRPr>
            </a:pPr>
            <a:r>
              <a:rPr sz="2700" b="1" i="0">
                <a:solidFill>
                  <a:srgbClr val="141414"/>
                </a:solidFill>
              </a:rPr>
              <a:t>Prochaines actions pour demarrer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27A1F-2D77-4E69-8B0A-3BC1ABDD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65C"/>
                </a:solidFill>
              </a:defRPr>
            </a:pPr>
            <a:r>
              <a:rPr sz="1350" b="0" i="0">
                <a:solidFill>
                  <a:srgbClr val="6D665C"/>
                </a:solidFill>
              </a:rPr>
              <a:t>La beta peut commencer quand ces points sont prets.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3B9D3-267F-4EF4-B8C9-298C9719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D665C"/>
                </a:solidFill>
              </a:defRPr>
            </a:pPr>
            <a:r>
              <a:rPr sz="750" b="0" i="0">
                <a:solidFill>
                  <a:srgbClr val="6D665C"/>
                </a:solidFill>
              </a:rPr>
              <a:t>Metableton Ecole - Beta privee - 2026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EAAF4-46B8-41A2-AF0C-4EB2A0E5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D6B4F"/>
                </a:solidFill>
              </a:defRPr>
            </a:pPr>
            <a:r>
              <a:rPr sz="1050" b="1" i="0">
                <a:solidFill>
                  <a:srgbClr val="1D6B4F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83F41-463D-4828-986B-A626A771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905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F665F-E376-4A7F-AFD2-3CCE239D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68463-146F-49B0-8602-53697ABA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28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1414"/>
                </a:solidFill>
              </a:defRPr>
            </a:pPr>
            <a:r>
              <a:rPr sz="1800" b="1" i="0">
                <a:solidFill>
                  <a:srgbClr val="141414"/>
                </a:solidFill>
              </a:rPr>
              <a:t>Cohorte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6B6EB-8E43-412A-96E4-B8B2DCC1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D665C"/>
                </a:solidFill>
              </a:defRPr>
            </a:pPr>
            <a:r>
              <a:rPr sz="1275" b="0" i="0">
                <a:solidFill>
                  <a:srgbClr val="6D665C"/>
                </a:solidFill>
              </a:rPr>
              <a:t>3 noms confirmes et role assigne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E4A04-5F70-4AE9-A306-53333BF7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05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72A9C-830A-421B-823B-460EDF8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FF93A-9B68-4245-AA62-7D7D17B2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28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1414"/>
                </a:solidFill>
              </a:defRPr>
            </a:pPr>
            <a:r>
              <a:rPr sz="1800" b="1" i="0">
                <a:solidFill>
                  <a:srgbClr val="141414"/>
                </a:solidFill>
              </a:rPr>
              <a:t>Plateforme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B0C4E-675F-4293-846F-8FFEB542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D665C"/>
                </a:solidFill>
              </a:defRPr>
            </a:pPr>
            <a:r>
              <a:rPr sz="1275" b="0" i="0">
                <a:solidFill>
                  <a:srgbClr val="6D665C"/>
                </a:solidFill>
              </a:rPr>
              <a:t>Home, catalogue, login et dashboards verifies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AC291-6D5C-4F5E-A87F-2A2803FE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71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F6842-0406-42C8-836E-B81C8004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40005-9A5F-49C1-8E2B-B1AE01A6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1414"/>
                </a:solidFill>
              </a:defRPr>
            </a:pPr>
            <a:r>
              <a:rPr sz="1800" b="1" i="0">
                <a:solidFill>
                  <a:srgbClr val="141414"/>
                </a:solidFill>
              </a:rPr>
              <a:t>Forms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0A2DF-0911-4DB0-9334-CAE5868A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D665C"/>
                </a:solidFill>
              </a:defRPr>
            </a:pPr>
            <a:r>
              <a:rPr sz="1275" b="0" i="0">
                <a:solidFill>
                  <a:srgbClr val="6D665C"/>
                </a:solidFill>
              </a:rPr>
              <a:t>Feedback principal + bug form crees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54E60-9CE2-400F-A40B-0A3A0E74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71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77994-075E-45E5-AA16-38D50A44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C4BF1-3514-4266-ABB6-4CED84D9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1414"/>
                </a:solidFill>
              </a:defRPr>
            </a:pPr>
            <a:r>
              <a:rPr sz="1800" b="1" i="0">
                <a:solidFill>
                  <a:srgbClr val="141414"/>
                </a:solidFill>
              </a:rPr>
              <a:t>Messages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4D976-3C50-4656-8092-B98C5BAC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D665C"/>
                </a:solidFill>
              </a:defRPr>
            </a:pPr>
            <a:r>
              <a:rPr sz="1275" b="0" i="0">
                <a:solidFill>
                  <a:srgbClr val="6D665C"/>
                </a:solidFill>
              </a:rPr>
              <a:t>Invitation et onboarding prets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3791F-14D4-462D-8A30-67CFF55C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9B4A2-8EF6-415F-8382-0F3F6C3F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D5E0D4-D0DE-4B72-9093-3B8345DC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62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1414"/>
                </a:solidFill>
              </a:defRPr>
            </a:pPr>
            <a:r>
              <a:rPr sz="1800" b="1" i="0">
                <a:solidFill>
                  <a:srgbClr val="141414"/>
                </a:solidFill>
              </a:rPr>
              <a:t>Triage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71E29-343D-4F60-A7B5-7457C00A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86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D665C"/>
                </a:solidFill>
              </a:defRPr>
            </a:pPr>
            <a:r>
              <a:rPr sz="1275" b="0" i="0">
                <a:solidFill>
                  <a:srgbClr val="6D665C"/>
                </a:solidFill>
              </a:rPr>
              <a:t>Board pret avec IDs FB-001, FB-002...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59720-C2F9-4571-8688-394177C5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8080FC-878F-44EC-BF44-F52CB59F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412D6-A800-4A92-97E3-657F1073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62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1414"/>
                </a:solidFill>
              </a:defRPr>
            </a:pPr>
            <a:r>
              <a:rPr sz="1800" b="1" i="0">
                <a:solidFill>
                  <a:srgbClr val="141414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18C8B-CE24-43F1-B6E6-359FF6C6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86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D665C"/>
                </a:solidFill>
              </a:defRPr>
            </a:pPr>
            <a:r>
              <a:rPr sz="1275" b="0" i="0">
                <a:solidFill>
                  <a:srgbClr val="6D665C"/>
                </a:solidFill>
              </a:rPr>
              <a:t>Date de triage et criteres valides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56E2F0-475F-45AF-BB8A-D53C8BEC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67350"/>
            <a:ext cx="8496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D6B4F"/>
          </a:solidFill>
          <a:ln xmlns:a="http://schemas.openxmlformats.org/drawingml/2006/main" w="9525">
            <a:solidFill>
              <a:srgbClr val="1D6B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668679-CD40-4FDA-9AD4-E964E9DB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19750"/>
            <a:ext cx="788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Recommandation: lancer avec 3 testeurs, trier une seule fois, corriger P0/P1, puis elargir.</a:t>
            </a:r>
          </a:p>
        </p:txBody>
      </p:sp>
    </p:spTree>
    <p:extLst>
      <p:ext uri="{BB962C8B-B14F-4D97-AF65-F5344CB8AC3E}">
        <p14:creationId xmlns:p14="http://schemas.microsoft.com/office/powerpoint/2010/main" val="1602720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2026-06-18T07:47:35.4450000Z</dcterms:created>
  <dcterms:modified xsi:type="dcterms:W3CDTF">2026-06-18T07:47:35.4450000Z</dcterms:modified>
</coreProperties>
</file>